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everyone. Today is about understanding where we are now, where AI development tools are heading, and how we prepare as a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expectations: this is a practical session. We are not just discussing trends; we are defining concrete team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Acknowledge value of current tooling, but highlight friction points: context limits and manual copy-paste reduce end-to-end productivity.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Gen1 is assistant mode. Human still orchestrates everything: analysis, implementation, testing, and final wiring.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major shift: from code completion to task completion. Emphasize the need for better prompt engineering and review discipline.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Clarify that Gen2 works best with explicit constraints and quality gates. Without guardrails, speed can create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Gen3 as system-level automation. Team role becomes orchestration, policy setting, and outcome assurance.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capability transition. We need to train for prompting, evaluation, and workflow design, not only language syntax.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Position this as phased adoption. Start with measurable pilots, then scale based on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as discussion slide. Ask team to map their own backlog items to Gen1/2/3 after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Clarify that tool availability can change. Team should validate current licensing, data policy, and enterprise restrictions before adoption.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System Analysts, focus on quality of requirements, traceability, and faster handover to dev and QA.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Business Analysts, AI helps reduce documentation latency and improve consistency in stakeholder communication.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Position this as mandatory governance. Free tools are useful for learning and prototyping, but policy compliance is non-negotiable.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Reassure the team that controls are part of scaling safely, not slowing down innovation.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ownership and timeline. Ask for volunteers and alignment before ending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Tools Evolution Awareness Session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Preparing our team for organizational adoption of advanced AI tools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Understand 3 generations of AI coding tools</a:t>
            </a:r>
          </a:p>
          <a:p>
            <a:pPr>
              <a:defRPr sz="2200"/>
            </a:pPr>
            <a:r>
              <a:t>Map current daily work use cases to each generation</a:t>
            </a:r>
          </a:p>
          <a:p>
            <a:pPr>
              <a:defRPr sz="2200"/>
            </a:pPr>
            <a:r>
              <a:t>Identify capability gaps in our team today</a:t>
            </a:r>
          </a:p>
          <a:p>
            <a:pPr>
              <a:defRPr sz="2200"/>
            </a:pPr>
            <a:r>
              <a:t>Define a practical upskilling and adoption plan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State at Work (Today)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Primary tool: GitHub Copilot workflow</a:t>
            </a:r>
          </a:p>
          <a:p>
            <a:pPr>
              <a:defRPr sz="2200"/>
            </a:pPr>
            <a:r>
              <a:t>Current limit: up to 3 files per review/summarization cycle</a:t>
            </a:r>
          </a:p>
          <a:p>
            <a:pPr>
              <a:defRPr sz="2200"/>
            </a:pPr>
            <a:r>
              <a:t>Manual steps needed: copy suggestions into project</a:t>
            </a:r>
          </a:p>
          <a:p>
            <a:pPr>
              <a:defRPr sz="2200"/>
            </a:pPr>
            <a:r>
              <a:t>Partial acceleration, but high manual integration effort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Generation 1: Assistive Copilot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539496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What it does well</a:t>
            </a:r>
          </a:p>
          <a:p>
            <a:pPr lvl="1">
              <a:defRPr sz="2000"/>
            </a:pPr>
            <a:r>
              <a:t>- Inline suggestions and quick summaries</a:t>
            </a:r>
          </a:p>
          <a:p>
            <a:pPr lvl="1">
              <a:defRPr sz="2000"/>
            </a:pPr>
            <a:r>
              <a:t>- Helps with local refactoring ideas</a:t>
            </a:r>
          </a:p>
          <a:p>
            <a:pPr lvl="1">
              <a:defRPr sz="2000"/>
            </a:pPr>
            <a:r>
              <a:t>- Speeds up repetitive coding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280160"/>
            <a:ext cx="539496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Where it slows us down</a:t>
            </a:r>
          </a:p>
          <a:p>
            <a:pPr lvl="1">
              <a:defRPr sz="2000"/>
            </a:pPr>
            <a:r>
              <a:t>- Limited project context window</a:t>
            </a:r>
          </a:p>
          <a:p>
            <a:pPr lvl="1">
              <a:defRPr sz="2000"/>
            </a:pPr>
            <a:r>
              <a:t>- Manual patching into multiple files</a:t>
            </a:r>
          </a:p>
          <a:p>
            <a:pPr lvl="1">
              <a:defRPr sz="2000"/>
            </a:pPr>
            <a:r>
              <a:t>- No autonomous validation + fix loop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Generation 2: Prompt-to-Outcome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Input: use case or prompt with acceptance criteria</a:t>
            </a:r>
          </a:p>
          <a:p>
            <a:pPr>
              <a:defRPr sz="2200"/>
            </a:pPr>
            <a:r>
              <a:t>Output: code + tests + bug fixes + validated result</a:t>
            </a:r>
          </a:p>
          <a:p>
            <a:pPr>
              <a:defRPr sz="2200"/>
            </a:pPr>
            <a:r>
              <a:t>Tool can iterate until tests pass</a:t>
            </a:r>
          </a:p>
          <a:p>
            <a:pPr>
              <a:defRPr sz="2200"/>
            </a:pPr>
            <a:r>
              <a:t>Team focus shifts from typing code to defining intent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Generation 2 in Daily Team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539496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High-value use cases</a:t>
            </a:r>
          </a:p>
          <a:p>
            <a:pPr lvl="1">
              <a:defRPr sz="2000"/>
            </a:pPr>
            <a:r>
              <a:t>- Bug triage and root-cause fixes</a:t>
            </a:r>
          </a:p>
          <a:p>
            <a:pPr lvl="1">
              <a:defRPr sz="2000"/>
            </a:pPr>
            <a:r>
              <a:t>- Add endpoint + test coverage</a:t>
            </a:r>
          </a:p>
          <a:p>
            <a:pPr lvl="1">
              <a:defRPr sz="2000"/>
            </a:pPr>
            <a:r>
              <a:t>- Refactor with regression safeguards</a:t>
            </a:r>
          </a:p>
          <a:p>
            <a:pPr lvl="1">
              <a:defRPr sz="2000"/>
            </a:pPr>
            <a:r>
              <a:t>- Test generation for legacy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280160"/>
            <a:ext cx="539496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Guardrails needed</a:t>
            </a:r>
          </a:p>
          <a:p>
            <a:pPr lvl="1">
              <a:defRPr sz="2000"/>
            </a:pPr>
            <a:r>
              <a:t>- Clear Definition of Done</a:t>
            </a:r>
          </a:p>
          <a:p>
            <a:pPr lvl="1">
              <a:defRPr sz="2000"/>
            </a:pPr>
            <a:r>
              <a:t>- Automated test gates in CI</a:t>
            </a:r>
          </a:p>
          <a:p>
            <a:pPr lvl="1">
              <a:defRPr sz="2000"/>
            </a:pPr>
            <a:r>
              <a:t>- Security/static checks before merge</a:t>
            </a:r>
          </a:p>
          <a:p>
            <a:pPr lvl="1">
              <a:defRPr sz="2000"/>
            </a:pPr>
            <a:r>
              <a:t>- Human review for architecture fit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Generation 3: Agentic AI (Multi-Use-Case Orchestration)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Agents combine multiple tasks/features into one flow</a:t>
            </a:r>
          </a:p>
          <a:p>
            <a:pPr>
              <a:defRPr sz="2200"/>
            </a:pPr>
            <a:r>
              <a:t>Can plan, execute, test, and integrate across modules</a:t>
            </a:r>
          </a:p>
          <a:p>
            <a:pPr>
              <a:defRPr sz="2200"/>
            </a:pPr>
            <a:r>
              <a:t>Supports end-to-end project scaffolding and evolution</a:t>
            </a:r>
          </a:p>
          <a:p>
            <a:pPr>
              <a:defRPr sz="2200"/>
            </a:pPr>
            <a:r>
              <a:t>Requires stronger governance and architecture standards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Skill Shift Required for Our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539496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From</a:t>
            </a:r>
          </a:p>
          <a:p>
            <a:pPr lvl="1">
              <a:defRPr sz="2000"/>
            </a:pPr>
            <a:r>
              <a:t>- Manual coding-first execution</a:t>
            </a:r>
          </a:p>
          <a:p>
            <a:pPr lvl="1">
              <a:defRPr sz="2000"/>
            </a:pPr>
            <a:r>
              <a:t>- Single-task tooling mindset</a:t>
            </a:r>
          </a:p>
          <a:p>
            <a:pPr lvl="1">
              <a:defRPr sz="2000"/>
            </a:pPr>
            <a:r>
              <a:t>- Ad hoc review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280160"/>
            <a:ext cx="539496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To</a:t>
            </a:r>
          </a:p>
          <a:p>
            <a:pPr lvl="1">
              <a:defRPr sz="2000"/>
            </a:pPr>
            <a:r>
              <a:t>- Intent-first specification writing</a:t>
            </a:r>
          </a:p>
          <a:p>
            <a:pPr lvl="1">
              <a:defRPr sz="2000"/>
            </a:pPr>
            <a:r>
              <a:t>- Agent/task orchestration skills</a:t>
            </a:r>
          </a:p>
          <a:p>
            <a:pPr lvl="1">
              <a:defRPr sz="2000"/>
            </a:pPr>
            <a:r>
              <a:t>- Quality gates + policy-driven workflows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90-Day Enablement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Weeks 1-3: Baseline training on prompt and review patterns</a:t>
            </a:r>
          </a:p>
          <a:p>
            <a:pPr>
              <a:defRPr sz="2200"/>
            </a:pPr>
            <a:r>
              <a:t>Weeks 4-6: Pilot Gen2 workflows on 2-3 real use cases</a:t>
            </a:r>
          </a:p>
          <a:p>
            <a:pPr>
              <a:defRPr sz="2200"/>
            </a:pPr>
            <a:r>
              <a:t>Weeks 7-9: Measure throughput, defects, and cycle time</a:t>
            </a:r>
          </a:p>
          <a:p>
            <a:pPr>
              <a:defRPr sz="2200"/>
            </a:pPr>
            <a:r>
              <a:t>Weeks 10-12: Introduce Gen3 agent pilots with governance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Use Case Mapping (Example)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539496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Current recurring work</a:t>
            </a:r>
          </a:p>
          <a:p>
            <a:pPr lvl="1">
              <a:defRPr sz="2000"/>
            </a:pPr>
            <a:r>
              <a:t>- Defect fixes in existing modules</a:t>
            </a:r>
          </a:p>
          <a:p>
            <a:pPr lvl="1">
              <a:defRPr sz="2000"/>
            </a:pPr>
            <a:r>
              <a:t>- New feature endpoint development</a:t>
            </a:r>
          </a:p>
          <a:p>
            <a:pPr lvl="1">
              <a:defRPr sz="2000"/>
            </a:pPr>
            <a:r>
              <a:t>- Refactoring + test gap closure</a:t>
            </a:r>
          </a:p>
          <a:p>
            <a:pPr lvl="1">
              <a:defRPr sz="2000"/>
            </a:pPr>
            <a:r>
              <a:t>- Release readiness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280160"/>
            <a:ext cx="539496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Best-fit AI generation</a:t>
            </a:r>
          </a:p>
          <a:p>
            <a:pPr lvl="1">
              <a:defRPr sz="2000"/>
            </a:pPr>
            <a:r>
              <a:t>- Gen1/Gen2 depending on scope</a:t>
            </a:r>
          </a:p>
          <a:p>
            <a:pPr lvl="1">
              <a:defRPr sz="2000"/>
            </a:pPr>
            <a:r>
              <a:t>- Gen2 for faster code+test delivery</a:t>
            </a:r>
          </a:p>
          <a:p>
            <a:pPr lvl="1">
              <a:defRPr sz="2000"/>
            </a:pPr>
            <a:r>
              <a:t>- Gen2 with strict regression checks</a:t>
            </a:r>
          </a:p>
          <a:p>
            <a:pPr lvl="1">
              <a:defRPr sz="2000"/>
            </a:pPr>
            <a:r>
              <a:t>- Gen3 agents for release orchestration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Free AI Tools by Role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539496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Developers</a:t>
            </a:r>
          </a:p>
          <a:p>
            <a:pPr lvl="1">
              <a:defRPr sz="2000"/>
            </a:pPr>
            <a:r>
              <a:t>- Cursor Free tier / VS Code AI extensions</a:t>
            </a:r>
          </a:p>
          <a:p>
            <a:pPr lvl="1">
              <a:defRPr sz="2000"/>
            </a:pPr>
            <a:r>
              <a:t>- Continue.dev (open-source coding assistant)</a:t>
            </a:r>
          </a:p>
          <a:p>
            <a:pPr lvl="1">
              <a:defRPr sz="2000"/>
            </a:pPr>
            <a:r>
              <a:t>- Codeium free plan</a:t>
            </a:r>
          </a:p>
          <a:p>
            <a:pPr lvl="1">
              <a:defRPr sz="2000"/>
            </a:pPr>
            <a:r>
              <a:t>- Aider (CLI pair-programming with local/remote models)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280160"/>
            <a:ext cx="539496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System Analysts + Business Analysts</a:t>
            </a:r>
          </a:p>
          <a:p>
            <a:pPr lvl="1">
              <a:defRPr sz="2000"/>
            </a:pPr>
            <a:r>
              <a:t>- ChatGPT free / Gemini free for requirement drafting</a:t>
            </a:r>
          </a:p>
          <a:p>
            <a:pPr lvl="1">
              <a:defRPr sz="2000"/>
            </a:pPr>
            <a:r>
              <a:t>- Notion AI free trial workflows for documentation</a:t>
            </a:r>
          </a:p>
          <a:p>
            <a:pPr lvl="1">
              <a:defRPr sz="2000"/>
            </a:pPr>
            <a:r>
              <a:t>- Perplexity free for research with citations</a:t>
            </a:r>
          </a:p>
          <a:p>
            <a:pPr lvl="1">
              <a:defRPr sz="2000"/>
            </a:pPr>
            <a:r>
              <a:t>- Miro AI / FigJam AI basic features for workshops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Analyst Use Cases (Practical)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539496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Analysis and design</a:t>
            </a:r>
          </a:p>
          <a:p>
            <a:pPr lvl="1">
              <a:defRPr sz="2000"/>
            </a:pPr>
            <a:r>
              <a:t>- Convert BRD to functional requirements</a:t>
            </a:r>
          </a:p>
          <a:p>
            <a:pPr lvl="1">
              <a:defRPr sz="2000"/>
            </a:pPr>
            <a:r>
              <a:t>- Generate API contract drafts from use cases</a:t>
            </a:r>
          </a:p>
          <a:p>
            <a:pPr lvl="1">
              <a:defRPr sz="2000"/>
            </a:pPr>
            <a:r>
              <a:t>- Create sequence diagrams from textual flows</a:t>
            </a:r>
          </a:p>
          <a:p>
            <a:pPr lvl="1">
              <a:defRPr sz="2000"/>
            </a:pPr>
            <a:r>
              <a:t>- Summarize impact analysis across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280160"/>
            <a:ext cx="539496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Delivery acceleration</a:t>
            </a:r>
          </a:p>
          <a:p>
            <a:pPr lvl="1">
              <a:defRPr sz="2000"/>
            </a:pPr>
            <a:r>
              <a:t>- Prepare user-story acceptance criteria</a:t>
            </a:r>
          </a:p>
          <a:p>
            <a:pPr lvl="1">
              <a:defRPr sz="2000"/>
            </a:pPr>
            <a:r>
              <a:t>- Draft test scenarios and edge cases</a:t>
            </a:r>
          </a:p>
          <a:p>
            <a:pPr lvl="1">
              <a:defRPr sz="2000"/>
            </a:pPr>
            <a:r>
              <a:t>- Generate release note skeletons</a:t>
            </a:r>
          </a:p>
          <a:p>
            <a:pPr lvl="1">
              <a:defRPr sz="2000"/>
            </a:pPr>
            <a:r>
              <a:t>- Create dependency and risk checklists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Analyst Use Cases (Practical)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539496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Business discovery</a:t>
            </a:r>
          </a:p>
          <a:p>
            <a:pPr lvl="1">
              <a:defRPr sz="2000"/>
            </a:pPr>
            <a:r>
              <a:t>- Interview summary into structured requirements</a:t>
            </a:r>
          </a:p>
          <a:p>
            <a:pPr lvl="1">
              <a:defRPr sz="2000"/>
            </a:pPr>
            <a:r>
              <a:t>- Persona and journey map first drafts</a:t>
            </a:r>
          </a:p>
          <a:p>
            <a:pPr lvl="1">
              <a:defRPr sz="2000"/>
            </a:pPr>
            <a:r>
              <a:t>- Process pain-point extraction from call notes</a:t>
            </a:r>
          </a:p>
          <a:p>
            <a:pPr lvl="1">
              <a:defRPr sz="2000"/>
            </a:pPr>
            <a:r>
              <a:t>- Stakeholder communication draft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280160"/>
            <a:ext cx="539496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Decision support</a:t>
            </a:r>
          </a:p>
          <a:p>
            <a:pPr lvl="1">
              <a:defRPr sz="2000"/>
            </a:pPr>
            <a:r>
              <a:t>- Option comparison tables with pros/cons</a:t>
            </a:r>
          </a:p>
          <a:p>
            <a:pPr lvl="1">
              <a:defRPr sz="2000"/>
            </a:pPr>
            <a:r>
              <a:t>- Benefit hypothesis and KPI draft baselines</a:t>
            </a:r>
          </a:p>
          <a:p>
            <a:pPr lvl="1">
              <a:defRPr sz="2000"/>
            </a:pPr>
            <a:r>
              <a:t>- Backlog prioritization rationale draft</a:t>
            </a:r>
          </a:p>
          <a:p>
            <a:pPr lvl="1">
              <a:defRPr sz="2000"/>
            </a:pPr>
            <a:r>
              <a:t>- Business-case narrative for leadership updates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 Adoption Checklist for Free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Never paste production secrets or PII into public tools</a:t>
            </a:r>
          </a:p>
          <a:p>
            <a:pPr>
              <a:defRPr sz="2200"/>
            </a:pPr>
            <a:r>
              <a:t>Use anonymized samples for requirement or defect analysis</a:t>
            </a:r>
          </a:p>
          <a:p>
            <a:pPr>
              <a:defRPr sz="2200"/>
            </a:pPr>
            <a:r>
              <a:t>Keep final business decisions human-reviewed</a:t>
            </a:r>
          </a:p>
          <a:p>
            <a:pPr>
              <a:defRPr sz="2200"/>
            </a:pPr>
            <a:r>
              <a:t>Store prompt templates and approved patterns in team wiki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and 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Risk: over-reliance on generated code without review</a:t>
            </a:r>
          </a:p>
          <a:p>
            <a:pPr>
              <a:defRPr sz="2200"/>
            </a:pPr>
            <a:r>
              <a:t>Control: mandatory architecture and security checkpoints</a:t>
            </a:r>
          </a:p>
          <a:p>
            <a:pPr>
              <a:defRPr sz="2200"/>
            </a:pPr>
            <a:r>
              <a:t>Risk: inconsistent prompts and outcomes</a:t>
            </a:r>
          </a:p>
          <a:p>
            <a:pPr>
              <a:defRPr sz="2200"/>
            </a:pPr>
            <a:r>
              <a:t>Control: reusable prompt templates and playbooks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Call to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Nominate pilot owners for top 3 use cases</a:t>
            </a:r>
          </a:p>
          <a:p>
            <a:pPr>
              <a:defRPr sz="2200"/>
            </a:pPr>
            <a:r>
              <a:t>Define success metrics per use case this week</a:t>
            </a:r>
          </a:p>
          <a:p>
            <a:pPr>
              <a:defRPr sz="2200"/>
            </a:pPr>
            <a:r>
              <a:t>Start Gen2 pilot in next sprint</a:t>
            </a:r>
          </a:p>
          <a:p>
            <a:pPr>
              <a:defRPr sz="2200"/>
            </a:pPr>
            <a:r>
              <a:t>Review Gen3 readiness at end of quarter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